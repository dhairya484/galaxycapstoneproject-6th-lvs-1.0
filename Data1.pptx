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65" r:id="rId1"/>
  </p:sldMasterIdLst>
  <p:notesMasterIdLst>
    <p:notesMasterId r:id="rId2"/>
  </p:notesMasterIdLst>
  <p:sldIdLst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clrMru>
    <a:srgbClr val="8DD17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10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10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1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1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1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48627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ah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3145730" name="Straight Connector 18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Straight Connector 19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628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29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30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31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32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33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34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635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36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algn="r" indent="0" marL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6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6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6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b="0" cap="none"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8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algn="l" indent="0" marL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6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6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87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8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68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7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7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67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1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61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59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9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8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99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indent="0" marL="0">
              <a:buNone/>
              <a:defRPr sz="1400"/>
            </a:lvl1pPr>
            <a:lvl2pPr indent="0" marL="457063">
              <a:buNone/>
              <a:defRPr sz="1400"/>
            </a:lvl2pPr>
            <a:lvl3pPr indent="0" marL="914126">
              <a:buNone/>
              <a:defRPr sz="1200"/>
            </a:lvl3pPr>
            <a:lvl4pPr indent="0" marL="1371189">
              <a:buNone/>
              <a:defRPr sz="1000"/>
            </a:lvl4pPr>
            <a:lvl5pPr indent="0" marL="1828251">
              <a:buNone/>
              <a:defRPr sz="1000"/>
            </a:lvl5pPr>
            <a:lvl6pPr indent="0" marL="2285314">
              <a:buNone/>
              <a:defRPr sz="1000"/>
            </a:lvl6pPr>
            <a:lvl7pPr indent="0" marL="2742377">
              <a:buNone/>
              <a:defRPr sz="1000"/>
            </a:lvl7pPr>
            <a:lvl8pPr indent="0" marL="3199440">
              <a:buNone/>
              <a:defRPr sz="1000"/>
            </a:lvl8pPr>
            <a:lvl9pPr indent="0" marL="3656503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70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0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b="0" sz="2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57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58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indent="0" marL="0">
              <a:buNone/>
              <a:defRPr sz="12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6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  <p:sp>
        <p:nvSpPr>
          <p:cNvPr id="10486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94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5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indent="0" marL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0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65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  <p:sp>
        <p:nvSpPr>
          <p:cNvPr id="1048654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55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1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68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8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2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6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  <p:sp>
        <p:nvSpPr>
          <p:cNvPr id="1048646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47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accent1"/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6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6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66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6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anchor="ctr"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0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7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28" name="Straight Connector 19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76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7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8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9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2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3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/>
        </p:spPr>
        <p:txBody>
          <a:bodyPr anchor="t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E2D66-41EF-4C08-910A-4D43A77F3A6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E34FE72-B4CB-48F8-944B-0DC18336544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  <p:txStyles>
    <p:titleStyle>
      <a:lvl1pPr algn="l" defTabSz="457200" eaLnBrk="1" hangingPunct="1" latinLnBrk="0" rtl="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342900" latinLnBrk="0" marL="3429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0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Rectangle 1"/>
          <p:cNvSpPr/>
          <p:nvPr/>
        </p:nvSpPr>
        <p:spPr>
          <a:xfrm>
            <a:off x="0" y="0"/>
            <a:ext cx="12192000" cy="6858000"/>
          </a:xfrm>
          <a:prstGeom prst="rect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2103799" y="573024"/>
            <a:ext cx="5254713" cy="1830674"/>
          </a:xfrm>
        </p:spPr>
        <p:txBody>
          <a:bodyPr/>
          <a:p>
            <a:endParaRPr dirty="0" lang="en-IN"/>
          </a:p>
        </p:txBody>
      </p:sp>
      <p:sp>
        <p:nvSpPr>
          <p:cNvPr id="1048599" name="Text Placeholder 2"/>
          <p:cNvSpPr>
            <a:spLocks noGrp="1"/>
          </p:cNvSpPr>
          <p:nvPr>
            <p:ph type="body" idx="1"/>
          </p:nvPr>
        </p:nvSpPr>
        <p:spPr>
          <a:xfrm>
            <a:off x="732199" y="5019040"/>
            <a:ext cx="8596668" cy="1570962"/>
          </a:xfrm>
        </p:spPr>
        <p:txBody>
          <a:bodyPr>
            <a:normAutofit fontScale="90000" lnSpcReduction="20000"/>
          </a:bodyPr>
          <a:p>
            <a:pPr algn="ctr"/>
            <a:r>
              <a:rPr b="1" dirty="0" sz="14000" lang="en-US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PowerPoint</a:t>
            </a:r>
            <a:endParaRPr b="1" dirty="0" sz="14000" lang="en-IN">
              <a:effectLst>
                <a:outerShdw algn="tl" blurRad="38100" dir="2700000" dist="38100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097152" name="Picture 2" descr="Powerpoint For Windows 11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832103" y="115062"/>
            <a:ext cx="8668979" cy="4685538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>
          <a:xfrm>
            <a:off x="-118403" y="0"/>
            <a:ext cx="12540177" cy="1325563"/>
          </a:xfrm>
        </p:spPr>
        <p:txBody>
          <a:bodyPr>
            <a:noAutofit/>
          </a:bodyPr>
          <a:p>
            <a:r>
              <a:rPr b="1" dirty="0" sz="5400" lang="en-US">
                <a:solidFill>
                  <a:srgbClr val="C00000"/>
                </a:solidFill>
                <a:latin typeface="Algerian" panose="04020705040A02060702" pitchFamily="82" charset="0"/>
              </a:rPr>
              <a:t>       Community Garden Initiative</a:t>
            </a:r>
            <a:endParaRPr b="1" dirty="0" sz="5400" lang="en-IN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2097153" name="Picture 2" descr="Community Gardening Vector Stock Illustrations – 4,252 Community Gardening  Vector Stock Illustrations, Vectors &amp; Clipart - Dreamstime"/>
          <p:cNvPicPr>
            <a:picLocks noChangeAspect="1" noGrp="1" noChangeArrowheads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 bwMode="auto">
          <a:xfrm>
            <a:off x="2150872" y="1936507"/>
            <a:ext cx="7331456" cy="4893748"/>
          </a:xfrm>
          <a:prstGeom prst="rect"/>
          <a:noFill/>
        </p:spPr>
      </p:pic>
      <p:sp>
        <p:nvSpPr>
          <p:cNvPr id="1048606" name="Rectangle 3"/>
          <p:cNvSpPr/>
          <p:nvPr/>
        </p:nvSpPr>
        <p:spPr>
          <a:xfrm>
            <a:off x="1689705" y="1040056"/>
            <a:ext cx="8249167" cy="574040"/>
          </a:xfrm>
          <a:prstGeom prst="rect"/>
          <a:noFill/>
        </p:spPr>
        <p:txBody>
          <a:bodyPr bIns="45720" lIns="91440" rIns="91440" tIns="45720" wrap="none">
            <a:spAutoFit/>
          </a:bodyPr>
          <a:p>
            <a:pPr algn="ctr"/>
            <a:r>
              <a:rPr b="1" dirty="0" sz="3200" lang="en-US">
                <a:ln w="0"/>
              </a:rPr>
              <a:t>Growing Together for a Healthier Community</a:t>
            </a:r>
            <a:endParaRPr b="1" cap="none" dirty="0" sz="3200" lang="en-US" spc="0">
              <a:ln w="0"/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1115484" y="-195072"/>
            <a:ext cx="8596668" cy="1320800"/>
          </a:xfrm>
        </p:spPr>
        <p:txBody>
          <a:bodyPr>
            <a:normAutofit/>
          </a:bodyPr>
          <a:p>
            <a:pPr algn="ctr"/>
            <a:r>
              <a:rPr b="1" dirty="0" sz="8000" lang="en-US"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Introduction</a:t>
            </a:r>
            <a:endParaRPr b="1" dirty="0" sz="8000" lang="en-IN">
              <a:effectLst>
                <a:outerShdw algn="tl" blurRad="38100" dir="2700000" dist="38100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1048608" name="Rectangle 3"/>
          <p:cNvSpPr/>
          <p:nvPr/>
        </p:nvSpPr>
        <p:spPr>
          <a:xfrm>
            <a:off x="352425" y="1100435"/>
            <a:ext cx="10010775" cy="1767839"/>
          </a:xfrm>
          <a:prstGeom prst="rect"/>
          <a:noFill/>
        </p:spPr>
        <p:txBody>
          <a:bodyPr bIns="45720" lIns="91440" rIns="91440" tIns="45720" wrap="square">
            <a:spAutoFit/>
          </a:bodyPr>
          <a:p>
            <a:pPr algn="ctr"/>
            <a:r>
              <a:rPr b="1" dirty="0" sz="2800" lang="en-US">
                <a:ln>
                  <a:solidFill>
                    <a:srgbClr val="00B050"/>
                  </a:solidFill>
                </a:ln>
                <a:latin typeface="Agency FB" panose="020B0503020202020204" pitchFamily="34" charset="0"/>
              </a:rPr>
              <a:t>a collaborative effort where individuals work together to transform shared spaces—such as vacant lots, rooftops, or public park areas—into productive green spaces for growing food, flowers, and herbs</a:t>
            </a:r>
            <a:endParaRPr b="1" cap="none" dirty="0" sz="7200" lang="en-US" spc="0">
              <a:ln w="0">
                <a:solidFill>
                  <a:srgbClr val="00B050"/>
                </a:solidFill>
              </a:ln>
              <a:solidFill>
                <a:schemeClr val="tx1"/>
              </a:solidFill>
              <a:latin typeface="Agency FB" panose="020B0503020202020204" pitchFamily="34" charset="0"/>
            </a:endParaRPr>
          </a:p>
        </p:txBody>
      </p:sp>
      <p:pic>
        <p:nvPicPr>
          <p:cNvPr id="2097154" name="Picture 2" descr="Ideal Plants for North, South, East, and West Facing Areas – Ugaoo"/>
          <p:cNvPicPr>
            <a:picLocks noChangeAspect="1" noGrp="1" noChangeArrowheads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572387" y="2558054"/>
            <a:ext cx="7734300" cy="4290421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295275" y="419100"/>
            <a:ext cx="12011026" cy="1320800"/>
          </a:xfrm>
        </p:spPr>
        <p:txBody>
          <a:bodyPr>
            <a:normAutofit/>
          </a:bodyPr>
          <a:p>
            <a:r>
              <a:rPr dirty="0" sz="4800" lang="en-US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Do We Need Community Garden?</a:t>
            </a:r>
            <a:endParaRPr dirty="0" sz="4800" lang="en-IN">
              <a:solidFill>
                <a:srgbClr val="00B05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48614" name="Rectangle 2"/>
          <p:cNvSpPr/>
          <p:nvPr/>
        </p:nvSpPr>
        <p:spPr>
          <a:xfrm>
            <a:off x="295274" y="1529060"/>
            <a:ext cx="5219701" cy="2491741"/>
          </a:xfrm>
          <a:prstGeom prst="rect"/>
          <a:noFill/>
        </p:spPr>
        <p:txBody>
          <a:bodyPr bIns="45720" lIns="91440" rIns="91440" tIns="45720" wrap="square">
            <a:spAutoFit/>
          </a:bodyPr>
          <a:p>
            <a:r>
              <a:rPr dirty="0" sz="3600" lang="en-US"/>
              <a:t>∙</a:t>
            </a:r>
            <a:r>
              <a:rPr dirty="0" sz="2800" lang="en-US"/>
              <a:t> Promoting mental well-being.</a:t>
            </a:r>
          </a:p>
          <a:p>
            <a:r>
              <a:rPr dirty="0" sz="3600" lang="en-US"/>
              <a:t>∙</a:t>
            </a:r>
            <a:r>
              <a:rPr dirty="0" sz="2800" lang="en-US"/>
              <a:t> Fostering social connections.</a:t>
            </a:r>
          </a:p>
          <a:p>
            <a:r>
              <a:rPr dirty="0" sz="3600" lang="en-US"/>
              <a:t>∙</a:t>
            </a:r>
            <a:r>
              <a:rPr dirty="0" sz="2800" lang="en-US"/>
              <a:t> Improving access to fresh. </a:t>
            </a:r>
          </a:p>
          <a:p>
            <a:r>
              <a:rPr dirty="0" sz="3600" lang="en-US"/>
              <a:t>∙</a:t>
            </a:r>
            <a:r>
              <a:rPr dirty="0" sz="2800" lang="en-US"/>
              <a:t> Affordable produce.</a:t>
            </a:r>
          </a:p>
          <a:p>
            <a:pPr algn="ctr"/>
            <a:endParaRPr b="0" cap="none" dirty="0" lang="en-US" spc="0">
              <a:ln w="0"/>
              <a:solidFill>
                <a:schemeClr val="tx1"/>
              </a:solidFill>
              <a:effectLst>
                <a:outerShdw algn="tl" blurRad="38100" dir="2700000" dist="19050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097155" name="Picture 2" descr="Community Garden - City of Powell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5857875" y="1704975"/>
            <a:ext cx="4705350" cy="3019425"/>
          </a:xfrm>
          <a:prstGeom prst="rect"/>
          <a:noFill/>
        </p:spPr>
      </p:pic>
      <p:pic>
        <p:nvPicPr>
          <p:cNvPr id="2097156" name="Picture 4" descr="Cultivating Community: The Importance of Community Gardens in the UK -  Environmental Law Foundation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434975" y="3943350"/>
            <a:ext cx="5080000" cy="2886076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>
          <a:xfrm>
            <a:off x="1463718" y="445008"/>
            <a:ext cx="8596668" cy="1320800"/>
          </a:xfrm>
        </p:spPr>
        <p:txBody>
          <a:bodyPr>
            <a:normAutofit/>
          </a:bodyPr>
          <a:p>
            <a:pPr algn="ctr"/>
            <a:r>
              <a:rPr dirty="0" sz="8000" lang="en-US">
                <a:solidFill>
                  <a:schemeClr val="accent5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Goals</a:t>
            </a:r>
            <a:endParaRPr dirty="0" sz="8000" lang="en-IN">
              <a:solidFill>
                <a:schemeClr val="accent5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48616" name="Rectangle 2"/>
          <p:cNvSpPr/>
          <p:nvPr/>
        </p:nvSpPr>
        <p:spPr>
          <a:xfrm>
            <a:off x="361563" y="2420579"/>
            <a:ext cx="13227964" cy="815341"/>
          </a:xfrm>
          <a:prstGeom prst="rect"/>
          <a:noFill/>
        </p:spPr>
        <p:txBody>
          <a:bodyPr bIns="45720" lIns="91440" rIns="91440" tIns="45720" wrap="none">
            <a:spAutoFit/>
          </a:bodyPr>
          <a:p>
            <a:pPr algn="ctr"/>
            <a:r>
              <a:rPr b="0" cap="none" dirty="0" sz="4800" lang="en-US" spc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C00000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1. Increase access to fresh and healthy produce.</a:t>
            </a:r>
          </a:p>
        </p:txBody>
      </p:sp>
      <p:sp>
        <p:nvSpPr>
          <p:cNvPr id="1048617" name="Rectangle 5"/>
          <p:cNvSpPr/>
          <p:nvPr/>
        </p:nvSpPr>
        <p:spPr>
          <a:xfrm>
            <a:off x="305001" y="3429000"/>
            <a:ext cx="16265248" cy="751840"/>
          </a:xfrm>
          <a:prstGeom prst="rect"/>
          <a:noFill/>
        </p:spPr>
        <p:txBody>
          <a:bodyPr bIns="45720" lIns="91440" rIns="91440" tIns="45720" wrap="none">
            <a:spAutoFit/>
          </a:bodyPr>
          <a:p>
            <a:pPr algn="ctr"/>
            <a:r>
              <a:rPr dirty="0" sz="4400" lang="en-US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C00000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2</a:t>
            </a:r>
            <a:r>
              <a:rPr b="0" cap="none" dirty="0" sz="4400" lang="en-US" spc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C00000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 Educate the community about sustainable gardening practices</a:t>
            </a:r>
          </a:p>
        </p:txBody>
      </p:sp>
      <p:sp>
        <p:nvSpPr>
          <p:cNvPr id="1048618" name="Rectangle 6"/>
          <p:cNvSpPr/>
          <p:nvPr/>
        </p:nvSpPr>
        <p:spPr>
          <a:xfrm>
            <a:off x="320698" y="4396408"/>
            <a:ext cx="11004818" cy="751840"/>
          </a:xfrm>
          <a:prstGeom prst="rect"/>
          <a:noFill/>
        </p:spPr>
        <p:txBody>
          <a:bodyPr bIns="45720" lIns="91440" rIns="91440" tIns="45720" wrap="none">
            <a:spAutoFit/>
          </a:bodyPr>
          <a:p>
            <a:pPr algn="ctr"/>
            <a:r>
              <a:rPr dirty="0" sz="4400" lang="en-US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C00000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3</a:t>
            </a:r>
            <a:r>
              <a:rPr b="0" cap="none" dirty="0" sz="4400" lang="en-US" spc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C00000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 Foster community spirit and </a:t>
            </a:r>
            <a:r>
              <a:rPr b="0" cap="none" dirty="0" sz="4400" lang="en-US" spc="0" err="1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C00000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collabrotion</a:t>
            </a:r>
            <a:r>
              <a:rPr b="0" cap="none" dirty="0" sz="4400" lang="en-US" spc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C00000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Rectangle 1"/>
          <p:cNvSpPr/>
          <p:nvPr/>
        </p:nvSpPr>
        <p:spPr>
          <a:xfrm>
            <a:off x="907793" y="306431"/>
            <a:ext cx="12760791" cy="1069340"/>
          </a:xfrm>
          <a:prstGeom prst="rect"/>
          <a:noFill/>
        </p:spPr>
        <p:txBody>
          <a:bodyPr bIns="45720" lIns="91440" rIns="91440" tIns="45720" wrap="none">
            <a:spAutoFit/>
          </a:bodyPr>
          <a:p>
            <a:pPr algn="ctr"/>
            <a:r>
              <a:rPr b="1" cap="none" dirty="0" sz="6600" lang="en-US" spc="0">
                <a:ln w="0"/>
                <a:solidFill>
                  <a:srgbClr val="00B050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Benefits of the community garden</a:t>
            </a:r>
          </a:p>
        </p:txBody>
      </p:sp>
      <p:sp>
        <p:nvSpPr>
          <p:cNvPr id="1048620" name="Rectangle 2"/>
          <p:cNvSpPr/>
          <p:nvPr/>
        </p:nvSpPr>
        <p:spPr>
          <a:xfrm>
            <a:off x="400920" y="2147202"/>
            <a:ext cx="12285782" cy="688341"/>
          </a:xfrm>
          <a:prstGeom prst="rect"/>
          <a:noFill/>
        </p:spPr>
        <p:txBody>
          <a:bodyPr bIns="45720" lIns="91440" rIns="91440" tIns="45720" wrap="none">
            <a:spAutoFit/>
          </a:bodyPr>
          <a:p>
            <a:pPr algn="ctr"/>
            <a:r>
              <a:rPr b="1" cap="none" dirty="0" sz="4000" lang="en-US" spc="0">
                <a:ln w="0"/>
                <a:solidFill>
                  <a:schemeClr val="tx1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Health Benefits:</a:t>
            </a:r>
            <a:r>
              <a:rPr b="0" cap="none" dirty="0" sz="4000" lang="en-US" spc="0">
                <a:ln w="0"/>
                <a:solidFill>
                  <a:schemeClr val="tx1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Access to fresh vegetables and fruits</a:t>
            </a:r>
          </a:p>
        </p:txBody>
      </p:sp>
      <p:sp>
        <p:nvSpPr>
          <p:cNvPr id="1048621" name="Rectangle 3"/>
          <p:cNvSpPr/>
          <p:nvPr/>
        </p:nvSpPr>
        <p:spPr>
          <a:xfrm>
            <a:off x="409159" y="3219499"/>
            <a:ext cx="14836894" cy="624841"/>
          </a:xfrm>
          <a:prstGeom prst="rect"/>
          <a:noFill/>
        </p:spPr>
        <p:txBody>
          <a:bodyPr bIns="45720" lIns="91440" rIns="91440" tIns="45720" wrap="none">
            <a:spAutoFit/>
          </a:bodyPr>
          <a:p>
            <a:pPr algn="ctr"/>
            <a:r>
              <a:rPr b="1" dirty="0" sz="3600" lang="en-US">
                <a:ln w="0"/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Environmental Benefits</a:t>
            </a:r>
            <a:r>
              <a:rPr b="1" cap="none" dirty="0" sz="3600" lang="en-US" spc="0">
                <a:ln w="0"/>
                <a:solidFill>
                  <a:schemeClr val="tx1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:</a:t>
            </a:r>
            <a:r>
              <a:rPr b="0" cap="none" dirty="0" sz="3600" lang="en-US" spc="0">
                <a:ln w="0"/>
                <a:solidFill>
                  <a:schemeClr val="tx1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Promotes Biodiversity, reduces carbon footprint</a:t>
            </a:r>
          </a:p>
        </p:txBody>
      </p:sp>
      <p:sp>
        <p:nvSpPr>
          <p:cNvPr id="1048622" name="Rectangle 4"/>
          <p:cNvSpPr/>
          <p:nvPr/>
        </p:nvSpPr>
        <p:spPr>
          <a:xfrm>
            <a:off x="450227" y="4239954"/>
            <a:ext cx="10391298" cy="688341"/>
          </a:xfrm>
          <a:prstGeom prst="rect"/>
          <a:noFill/>
        </p:spPr>
        <p:txBody>
          <a:bodyPr bIns="45720" lIns="91440" rIns="91440" tIns="45720" wrap="none">
            <a:spAutoFit/>
          </a:bodyPr>
          <a:p>
            <a:pPr algn="ctr"/>
            <a:r>
              <a:rPr b="1" dirty="0" sz="4000" lang="en-US">
                <a:ln w="0"/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Community</a:t>
            </a:r>
            <a:r>
              <a:rPr b="1" cap="none" dirty="0" sz="4000" lang="en-US" spc="0">
                <a:ln w="0"/>
                <a:solidFill>
                  <a:schemeClr val="tx1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Benefits: </a:t>
            </a:r>
            <a:r>
              <a:rPr cap="none" dirty="0" sz="4000" lang="en-US" spc="0">
                <a:ln w="0"/>
                <a:solidFill>
                  <a:schemeClr val="tx1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Brings People Together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357294" y="280416"/>
            <a:ext cx="11922462" cy="1320800"/>
          </a:xfrm>
        </p:spPr>
        <p:txBody>
          <a:bodyPr>
            <a:noAutofit/>
          </a:bodyPr>
          <a:p>
            <a:r>
              <a:rPr b="1" dirty="0" sz="5400" lang="en-US">
                <a:solidFill>
                  <a:srgbClr val="00B050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Get Involved: volunteer opportunities</a:t>
            </a:r>
            <a:endParaRPr b="1" dirty="0" sz="7200" lang="en-IN">
              <a:solidFill>
                <a:srgbClr val="00B050"/>
              </a:solidFill>
              <a:effectLst>
                <a:outerShdw algn="tl" blurRad="38100" dir="2700000" dist="38100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48624" name="Rectangle 2"/>
          <p:cNvSpPr/>
          <p:nvPr/>
        </p:nvSpPr>
        <p:spPr>
          <a:xfrm>
            <a:off x="349495" y="2007215"/>
            <a:ext cx="11269980" cy="815341"/>
          </a:xfrm>
          <a:prstGeom prst="rect"/>
          <a:noFill/>
        </p:spPr>
        <p:txBody>
          <a:bodyPr bIns="45720" lIns="91440" rIns="91440" tIns="45720" wrap="none">
            <a:spAutoFit/>
          </a:bodyPr>
          <a:p>
            <a:pPr algn="ctr"/>
            <a:r>
              <a:rPr b="1" cap="none" dirty="0" sz="4800" lang="en-US" spc="0">
                <a:ln w="0"/>
                <a:solidFill>
                  <a:schemeClr val="tx1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Planters: </a:t>
            </a:r>
            <a:r>
              <a:rPr b="0" cap="none" dirty="0" sz="4800" lang="en-US" spc="0">
                <a:ln w="0"/>
                <a:solidFill>
                  <a:schemeClr val="tx1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Help plants and plant seedlings</a:t>
            </a:r>
          </a:p>
        </p:txBody>
      </p:sp>
      <p:sp>
        <p:nvSpPr>
          <p:cNvPr id="1048625" name="Rectangle 3"/>
          <p:cNvSpPr/>
          <p:nvPr/>
        </p:nvSpPr>
        <p:spPr>
          <a:xfrm>
            <a:off x="212335" y="3429000"/>
            <a:ext cx="15249843" cy="815341"/>
          </a:xfrm>
          <a:prstGeom prst="rect"/>
          <a:noFill/>
        </p:spPr>
        <p:txBody>
          <a:bodyPr bIns="45720" lIns="91440" rIns="91440" tIns="45720" wrap="none">
            <a:spAutoFit/>
          </a:bodyPr>
          <a:p>
            <a:pPr algn="ctr"/>
            <a:r>
              <a:rPr b="1" cap="none" dirty="0" sz="4800" lang="en-US" spc="0">
                <a:ln w="0"/>
                <a:solidFill>
                  <a:schemeClr val="tx1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Caretakers: </a:t>
            </a:r>
            <a:r>
              <a:rPr b="0" cap="none" dirty="0" sz="4800" lang="en-US" spc="0">
                <a:ln w="0"/>
                <a:solidFill>
                  <a:schemeClr val="tx1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Watering weeding and general maintenance</a:t>
            </a:r>
          </a:p>
        </p:txBody>
      </p:sp>
      <p:sp>
        <p:nvSpPr>
          <p:cNvPr id="1048626" name="Rectangle 4"/>
          <p:cNvSpPr/>
          <p:nvPr/>
        </p:nvSpPr>
        <p:spPr>
          <a:xfrm>
            <a:off x="322350" y="4861560"/>
            <a:ext cx="13763248" cy="815340"/>
          </a:xfrm>
          <a:prstGeom prst="rect"/>
          <a:noFill/>
        </p:spPr>
        <p:txBody>
          <a:bodyPr bIns="45720" lIns="91440" rIns="91440" tIns="45720" wrap="none">
            <a:spAutoFit/>
          </a:bodyPr>
          <a:p>
            <a:pPr algn="ctr"/>
            <a:r>
              <a:rPr b="1" dirty="0" sz="4800" lang="en-US">
                <a:ln w="0"/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Harvesters</a:t>
            </a:r>
            <a:r>
              <a:rPr b="1" cap="none" dirty="0" sz="4800" lang="en-US" spc="0">
                <a:ln w="0"/>
                <a:solidFill>
                  <a:schemeClr val="tx1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: </a:t>
            </a:r>
            <a:r>
              <a:rPr b="0" cap="none" dirty="0" sz="4800" lang="en-US" spc="0">
                <a:ln w="0"/>
                <a:solidFill>
                  <a:schemeClr val="tx1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</a:rPr>
              <a:t>Assist in Harvesting crops when ready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lastClr="000000" val="windowText"/>
      </a:dk1>
      <a:lt1>
        <a:sysClr lastClr="FFFFFF" val="window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r="5400000" dist="254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r="5400000" dist="381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l" rig="threePt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sanjay mundra</dc:creator>
  <cp:lastModifiedBy>sanjay mundra</cp:lastModifiedBy>
  <dcterms:created xsi:type="dcterms:W3CDTF">2026-02-06T05:27:27Z</dcterms:created>
  <dcterms:modified xsi:type="dcterms:W3CDTF">2026-02-08T15:14:20Z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d2236030dc0244baa54dad4f0489fa75</vt:lpwstr>
  </property>
</Properties>
</file>